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87" r:id="rId6"/>
    <p:sldId id="277" r:id="rId7"/>
    <p:sldId id="275" r:id="rId8"/>
    <p:sldId id="273" r:id="rId9"/>
    <p:sldId id="274" r:id="rId10"/>
    <p:sldId id="276" r:id="rId11"/>
    <p:sldId id="278" r:id="rId12"/>
    <p:sldId id="279" r:id="rId13"/>
    <p:sldId id="280" r:id="rId14"/>
    <p:sldId id="281" r:id="rId15"/>
    <p:sldId id="282" r:id="rId16"/>
    <p:sldId id="283" r:id="rId17"/>
    <p:sldId id="288" r:id="rId18"/>
    <p:sldId id="289" r:id="rId19"/>
    <p:sldId id="290" r:id="rId20"/>
    <p:sldId id="29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2E75B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124F4-4C41-86B2-F031-1F3A2CA3A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1CBB9-635A-957E-32DB-FCBCB7DBE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8BF6A-C5F8-469E-9B7D-711E2AB2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1B72F-F95F-81C7-BAB7-A9177EE0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F8A29-1F3F-98B6-AC48-84D65FDB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3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DA56F-2071-9A5E-B066-FBF5012A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8F493-DCD0-461D-00F0-5E93FA715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5D41E-ABE3-8D30-D44E-1FE49D87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5E797-6E3C-1CB1-1078-B4338583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098A9-41A7-F03B-6425-99E72B61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89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C0CF7-7F7F-1958-3511-A83C7A1A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3885B1-E669-021C-67CC-9A0A17B0D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03B95-9861-22A4-07DA-51A2204A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4C713-F5EA-2B56-AC6E-4993606F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E3BC7-5875-FE21-455E-BE9168D2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17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8BD83-B37E-7925-AD24-CC799B36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4864A-0360-0BDF-D4F3-7B5EADADF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E8E008-4053-BA01-5BA7-7885AEB3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F3C59-3B64-DEC7-B791-898EA3E1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7321A7-7CD1-1F9B-AAAB-A70A4291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4B6668-88C2-FFEF-2F33-9A37C36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2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E2D72-8C4F-DED3-B45A-597ABA4D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0C3BC-EAA6-4002-CD2F-838E13EEB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7A2112-0C9A-F04A-ABCF-3A658B5C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8C619-3C94-A2AD-8C74-366689D48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5BFC44-1F84-797A-32F8-EE55802B8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2003E-9A80-9CFB-815D-C031E201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A45984-FE11-69D5-1143-08B72101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1F996F-4E2A-B4EF-2782-74D7E356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2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DE09-106E-5491-0CA2-F0200EE9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7C5DC-17CC-4445-83EF-04957D43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431942-41FD-1058-8F6B-7D674333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9CCE7D-ABEC-1A78-937C-7EBF25EC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DD7150-F04F-3518-B5F3-2583A126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0300C5-DBB6-DBD8-7D9C-04974FBA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2F66C7-12DB-9001-1870-5A53B84D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0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B3630-34C1-279F-4C0E-A83E1EC4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896B8-0E9C-7450-A55A-EB56154D3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3AB4EF-6680-09CE-0496-C6FAC8AF1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4E805-FD2F-F8D1-63CD-47BD141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F794E-4AE6-27B7-393E-B9A6A902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81B9A-147D-BCC1-0B40-290D3E24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7DF00-992E-0E0F-DD87-D3A48B2C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91AA3A-1AA7-D3D1-1652-ED5BCF9D1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251AD-6520-BB7A-03F5-35E08E35D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8530-2A86-D52A-22B0-CCB1DDD2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549AB-2FFD-86E3-4BD2-6AAA2371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AABEED-9678-2CA6-5C82-1D1B4BC4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80C8B-0CD5-8502-8E3E-829BA4B7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C3227D-0B8C-A38D-BA27-460DF2FBC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93B8B-694F-72AD-5678-61C6E998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81A15-7C3E-2F14-24C9-7E97C7BB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E3A4B-3C59-B578-7070-2A921918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0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BAAB18-B1D9-CBF4-15B0-94442BE46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3F4237-51B8-F68A-D0CC-CAAE14D15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8F4D2-824B-A39F-8BC3-7683F0CC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D94E7-BD4E-5374-EF24-BFA63289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D91E2-3CFE-1222-02AB-03C2BCF9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A2C4F3-B8D1-07A2-A442-0C1B3325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7D2EA-ABC2-510D-138C-867D071A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A066F-242C-CEDE-B769-33BAA08A7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C4899-AD01-4415-A7FD-A2DAE090205E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6DD34-B325-3DD2-B202-A664DEDB6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7E3FA-BCB2-67FF-49F9-65D7A1E2D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8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iangxiekeji.com/tutorial/oled.html" TargetMode="External"/><Relationship Id="rId2" Type="http://schemas.openxmlformats.org/officeDocument/2006/relationships/hyperlink" Target="https://jiangxiekeji.com/download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jiangxiekeji.taobao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适用器件：</a:t>
            </a:r>
            <a:endParaRPr lang="en-US" altLang="zh-CN" sz="2400">
              <a:latin typeface="+mn-ea"/>
            </a:endParaRPr>
          </a:p>
          <a:p>
            <a:r>
              <a:rPr lang="en-US" altLang="zh-CN" sz="2400">
                <a:latin typeface="+mn-ea"/>
              </a:rPr>
              <a:t>	</a:t>
            </a:r>
            <a:r>
              <a:rPr lang="en-US" altLang="zh-CN" sz="2400"/>
              <a:t>NRF24L01+</a:t>
            </a:r>
            <a:r>
              <a:rPr lang="zh-CN" altLang="en-US" sz="2400"/>
              <a:t>模块</a:t>
            </a:r>
            <a:endParaRPr lang="en-US" altLang="zh-CN" sz="2400"/>
          </a:p>
          <a:p>
            <a:r>
              <a:rPr lang="en-US" altLang="zh-CN" sz="2400"/>
              <a:t>	NRF24L01</a:t>
            </a:r>
            <a:r>
              <a:rPr lang="zh-CN" altLang="en-US" sz="2400"/>
              <a:t>模块</a:t>
            </a:r>
            <a:endParaRPr lang="en-US" altLang="zh-CN" sz="2400"/>
          </a:p>
          <a:p>
            <a:r>
              <a:rPr lang="en-US" altLang="zh-CN" sz="2400"/>
              <a:t>	</a:t>
            </a:r>
            <a:r>
              <a:rPr lang="en-US" altLang="zh-CN" sz="2400">
                <a:latin typeface="+mn-ea"/>
              </a:rPr>
              <a:t>Si24R1</a:t>
            </a:r>
            <a:r>
              <a:rPr lang="zh-CN" altLang="en-US" sz="2400">
                <a:latin typeface="+mn-ea"/>
              </a:rPr>
              <a:t>模块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NRF24L01</a:t>
            </a:r>
            <a:r>
              <a:rPr lang="zh-CN" altLang="en-US" sz="2800"/>
              <a:t>无线通信模块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62D5BB4A-9E65-7C46-BD42-9089E7708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661" y="3174641"/>
            <a:ext cx="2880000" cy="2880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9C4A8F0-13B3-F02B-60C3-8043F53F5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23" y="3174641"/>
            <a:ext cx="2880000" cy="288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F826729-C83D-0F8C-8532-8CDDF2199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99" y="3174641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7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资料下载：</a:t>
            </a:r>
            <a:endParaRPr lang="en-US" altLang="zh-CN" sz="2400">
              <a:latin typeface="+mn-ea"/>
            </a:endParaRPr>
          </a:p>
          <a:p>
            <a:r>
              <a:rPr lang="en-US" altLang="zh-CN" sz="2400">
                <a:latin typeface="+mn-ea"/>
              </a:rPr>
              <a:t>	</a:t>
            </a:r>
            <a:r>
              <a:rPr lang="en-US" altLang="zh-CN" sz="2400">
                <a:latin typeface="+mn-ea"/>
                <a:hlinkClick r:id="rId2"/>
              </a:rPr>
              <a:t>https://jiangxiekeji.com/download.html</a:t>
            </a:r>
            <a:endParaRPr lang="en-US" altLang="zh-CN" sz="2400">
              <a:latin typeface="+mn-ea"/>
            </a:endParaRPr>
          </a:p>
          <a:p>
            <a:endParaRPr lang="en-US" altLang="zh-CN" sz="240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程序介绍：</a:t>
            </a:r>
            <a:endParaRPr lang="en-US" altLang="zh-CN" sz="2400">
              <a:latin typeface="+mn-ea"/>
            </a:endParaRPr>
          </a:p>
          <a:p>
            <a:r>
              <a:rPr lang="en-US" altLang="zh-CN" sz="2400">
                <a:latin typeface="+mn-ea"/>
              </a:rPr>
              <a:t>	</a:t>
            </a:r>
            <a:r>
              <a:rPr lang="en-US" altLang="zh-CN" sz="2400">
                <a:latin typeface="+mn-ea"/>
                <a:hlinkClick r:id="rId3"/>
              </a:rPr>
              <a:t>https://jiangxiekeji.com/tutorial/nrf24l01.html</a:t>
            </a:r>
            <a:endParaRPr lang="en-US" altLang="zh-CN" sz="2400">
              <a:latin typeface="+mn-ea"/>
            </a:endParaRPr>
          </a:p>
          <a:p>
            <a:endParaRPr lang="en-US" altLang="zh-CN" sz="240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我们的淘宝店：</a:t>
            </a:r>
            <a:endParaRPr lang="en-US" altLang="zh-CN" sz="2400">
              <a:latin typeface="+mn-ea"/>
            </a:endParaRPr>
          </a:p>
          <a:p>
            <a:r>
              <a:rPr lang="en-US" altLang="zh-CN" sz="2400">
                <a:latin typeface="+mn-ea"/>
              </a:rPr>
              <a:t>	</a:t>
            </a:r>
            <a:r>
              <a:rPr lang="en-US" altLang="zh-CN" sz="2400">
                <a:latin typeface="+mn-ea"/>
                <a:hlinkClick r:id="rId4"/>
              </a:rPr>
              <a:t>https://jiangxiekeji.taobao.com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相关链接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801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NRF24L01</a:t>
            </a:r>
            <a:r>
              <a:rPr lang="zh-CN" altLang="en-US" sz="2400">
                <a:latin typeface="+mn-ea"/>
              </a:rPr>
              <a:t>是</a:t>
            </a:r>
            <a:r>
              <a:rPr lang="en-US" altLang="zh-CN" sz="2400">
                <a:latin typeface="+mn-ea"/>
              </a:rPr>
              <a:t>Nordic Semiconductor</a:t>
            </a:r>
            <a:r>
              <a:rPr lang="zh-CN" altLang="en-US" sz="2400">
                <a:latin typeface="+mn-ea"/>
              </a:rPr>
              <a:t>公司开发的一款单芯片</a:t>
            </a:r>
            <a:r>
              <a:rPr lang="en-US" altLang="zh-CN" sz="2400">
                <a:latin typeface="+mn-ea"/>
              </a:rPr>
              <a:t>2.4GHz</a:t>
            </a:r>
            <a:r>
              <a:rPr lang="zh-CN" altLang="en-US" sz="2400">
                <a:latin typeface="+mn-ea"/>
              </a:rPr>
              <a:t>无线收发器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可配置工作频率：</a:t>
            </a:r>
            <a:r>
              <a:rPr lang="en-US" altLang="zh-CN" sz="2400">
                <a:latin typeface="+mn-ea"/>
              </a:rPr>
              <a:t>2.400GHz~2.525GHz</a:t>
            </a:r>
            <a:r>
              <a:rPr lang="zh-CN" altLang="en-US" sz="2400">
                <a:latin typeface="+mn-ea"/>
              </a:rPr>
              <a:t>（</a:t>
            </a:r>
            <a:r>
              <a:rPr lang="en-US" altLang="zh-CN" sz="2400">
                <a:latin typeface="+mn-ea"/>
              </a:rPr>
              <a:t>2.400~2.4835GHz</a:t>
            </a:r>
            <a:r>
              <a:rPr lang="zh-CN" altLang="en-US" sz="2400">
                <a:latin typeface="+mn-ea"/>
              </a:rPr>
              <a:t>为全球</a:t>
            </a:r>
            <a:r>
              <a:rPr lang="en-US" altLang="zh-CN" sz="2400">
                <a:latin typeface="+mn-ea"/>
              </a:rPr>
              <a:t>ISM</a:t>
            </a:r>
            <a:r>
              <a:rPr lang="zh-CN" altLang="en-US" sz="2400">
                <a:latin typeface="+mn-ea"/>
              </a:rPr>
              <a:t>频段）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可配置数据传输速率：</a:t>
            </a:r>
            <a:r>
              <a:rPr lang="en-US" altLang="zh-CN" sz="2400">
                <a:latin typeface="+mn-ea"/>
              </a:rPr>
              <a:t>250kbps</a:t>
            </a:r>
            <a:r>
              <a:rPr lang="zh-CN" altLang="en-US" sz="2400">
                <a:latin typeface="+mn-ea"/>
              </a:rPr>
              <a:t>（仅</a:t>
            </a:r>
            <a:r>
              <a:rPr lang="en-US" altLang="zh-CN" sz="2400">
                <a:latin typeface="+mn-ea"/>
              </a:rPr>
              <a:t>+</a:t>
            </a:r>
            <a:r>
              <a:rPr lang="zh-CN" altLang="en-US" sz="2400">
                <a:latin typeface="+mn-ea"/>
              </a:rPr>
              <a:t>版本支持），</a:t>
            </a:r>
            <a:r>
              <a:rPr lang="en-US" altLang="zh-CN" sz="2400">
                <a:latin typeface="+mn-ea"/>
              </a:rPr>
              <a:t>1Mbps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2Mbps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可配置</a:t>
            </a:r>
            <a:r>
              <a:rPr lang="en-US" altLang="zh-CN" sz="2400">
                <a:latin typeface="+mn-ea"/>
              </a:rPr>
              <a:t>3~5</a:t>
            </a:r>
            <a:r>
              <a:rPr lang="zh-CN" altLang="en-US" sz="2400">
                <a:latin typeface="+mn-ea"/>
              </a:rPr>
              <a:t>字节地址宽度，</a:t>
            </a:r>
            <a:r>
              <a:rPr lang="en-US" altLang="zh-CN" sz="2400">
                <a:latin typeface="+mn-ea"/>
              </a:rPr>
              <a:t>1~32</a:t>
            </a:r>
            <a:r>
              <a:rPr lang="zh-CN" altLang="en-US" sz="2400">
                <a:latin typeface="+mn-ea"/>
              </a:rPr>
              <a:t>字节有效载荷宽度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可配置发射功率：</a:t>
            </a:r>
            <a:r>
              <a:rPr lang="en-US" altLang="zh-CN" sz="2400">
                <a:latin typeface="+mn-ea"/>
              </a:rPr>
              <a:t>0dBm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-6dBm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-12dBm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-18dBm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1</a:t>
            </a:r>
            <a:r>
              <a:rPr lang="zh-CN" altLang="en-US" sz="2400">
                <a:latin typeface="+mn-ea"/>
              </a:rPr>
              <a:t>个发送通道，</a:t>
            </a:r>
            <a:r>
              <a:rPr lang="en-US" altLang="zh-CN" sz="2400">
                <a:latin typeface="+mn-ea"/>
              </a:rPr>
              <a:t>6</a:t>
            </a:r>
            <a:r>
              <a:rPr lang="zh-CN" altLang="en-US" sz="2400">
                <a:latin typeface="+mn-ea"/>
              </a:rPr>
              <a:t>个接收通道，支持一对多通信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Enhanced ShockBurst</a:t>
            </a:r>
            <a:r>
              <a:rPr lang="zh-CN" altLang="en-US" sz="2400">
                <a:latin typeface="+mn-ea"/>
              </a:rPr>
              <a:t>™，自动数据包组装和定时，自动应答，自动重传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其他高级功能：动态包长，应答附加载荷，动态应答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NRF24L01</a:t>
            </a:r>
            <a:r>
              <a:rPr lang="zh-CN" altLang="en-US" sz="2800"/>
              <a:t>简介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11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NRF24L01</a:t>
            </a:r>
            <a:r>
              <a:rPr lang="zh-CN" altLang="en-US" sz="2800"/>
              <a:t>框图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177B4EE-5DEC-A542-261F-948F62439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37" y="1403208"/>
            <a:ext cx="8726525" cy="491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7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硬件电路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A20940-C553-8C85-EE34-E15C785C6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89" y="1398772"/>
            <a:ext cx="7162673" cy="49918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DE2307-0524-21BA-FC84-B466A8D52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8" y="2408822"/>
            <a:ext cx="3178836" cy="295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1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主要工作流程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0AB6C4F4-7EF7-F07F-3F30-6B559A47CE5A}"/>
              </a:ext>
            </a:extLst>
          </p:cNvPr>
          <p:cNvSpPr txBox="1"/>
          <p:nvPr/>
        </p:nvSpPr>
        <p:spPr>
          <a:xfrm>
            <a:off x="792011" y="1698368"/>
            <a:ext cx="1303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SPI</a:t>
            </a:r>
            <a:r>
              <a:rPr lang="zh-CN" altLang="en-US"/>
              <a:t>写入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8E3FA63-42E7-30FE-71B6-C7E3DB4EC380}"/>
              </a:ext>
            </a:extLst>
          </p:cNvPr>
          <p:cNvGrpSpPr/>
          <p:nvPr/>
        </p:nvGrpSpPr>
        <p:grpSpPr>
          <a:xfrm>
            <a:off x="782335" y="2451045"/>
            <a:ext cx="3155582" cy="462186"/>
            <a:chOff x="842891" y="2270064"/>
            <a:chExt cx="3155582" cy="46218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E6F1EB7-262F-62DF-F9D4-64E34D090319}"/>
                </a:ext>
              </a:extLst>
            </p:cNvPr>
            <p:cNvSpPr/>
            <p:nvPr/>
          </p:nvSpPr>
          <p:spPr>
            <a:xfrm>
              <a:off x="2558473" y="2270064"/>
              <a:ext cx="1440000" cy="457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发送数据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AE3573D-C4BD-8E5A-5334-B6E18FF4E615}"/>
                </a:ext>
              </a:extLst>
            </p:cNvPr>
            <p:cNvSpPr/>
            <p:nvPr/>
          </p:nvSpPr>
          <p:spPr>
            <a:xfrm>
              <a:off x="842891" y="2276616"/>
              <a:ext cx="1440000" cy="45563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发送地址</a:t>
              </a:r>
            </a:p>
          </p:txBody>
        </p:sp>
      </p:grp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3CAF7C7-16B6-10FC-B9FC-AF21462B36EE}"/>
              </a:ext>
            </a:extLst>
          </p:cNvPr>
          <p:cNvSpPr/>
          <p:nvPr/>
        </p:nvSpPr>
        <p:spPr>
          <a:xfrm rot="5400000">
            <a:off x="1988843" y="1702562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0EF6934B-6684-A9AB-D548-1523D62199FA}"/>
              </a:ext>
            </a:extLst>
          </p:cNvPr>
          <p:cNvSpPr/>
          <p:nvPr/>
        </p:nvSpPr>
        <p:spPr>
          <a:xfrm rot="5400000">
            <a:off x="1988843" y="3279191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7014014-681F-D8F4-EFFF-78BF17E45FE6}"/>
              </a:ext>
            </a:extLst>
          </p:cNvPr>
          <p:cNvSpPr txBox="1"/>
          <p:nvPr/>
        </p:nvSpPr>
        <p:spPr>
          <a:xfrm>
            <a:off x="731011" y="3279639"/>
            <a:ext cx="142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组装数据包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B5B595-66F3-D88F-0925-8F2FF89750D5}"/>
              </a:ext>
            </a:extLst>
          </p:cNvPr>
          <p:cNvSpPr/>
          <p:nvPr/>
        </p:nvSpPr>
        <p:spPr>
          <a:xfrm>
            <a:off x="782335" y="4009603"/>
            <a:ext cx="3155582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1010101011000011……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5FEE4B67-959B-E840-4CD9-9225C5CE8E46}"/>
              </a:ext>
            </a:extLst>
          </p:cNvPr>
          <p:cNvSpPr/>
          <p:nvPr/>
        </p:nvSpPr>
        <p:spPr>
          <a:xfrm rot="5400000">
            <a:off x="1988843" y="4786848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EE9E26-A022-E0E7-6B52-33FA3F316E54}"/>
              </a:ext>
            </a:extLst>
          </p:cNvPr>
          <p:cNvSpPr txBox="1"/>
          <p:nvPr/>
        </p:nvSpPr>
        <p:spPr>
          <a:xfrm>
            <a:off x="731011" y="4775069"/>
            <a:ext cx="142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GFSK</a:t>
            </a:r>
            <a:r>
              <a:rPr lang="zh-CN" altLang="en-US"/>
              <a:t>调制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DB4F1CB-78C4-69DB-954E-45CC3E730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060" y="1821578"/>
            <a:ext cx="3470941" cy="4068147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9FFB9608-68C4-BB67-B245-4FB0D565F8F6}"/>
              </a:ext>
            </a:extLst>
          </p:cNvPr>
          <p:cNvSpPr/>
          <p:nvPr/>
        </p:nvSpPr>
        <p:spPr>
          <a:xfrm>
            <a:off x="782335" y="5496333"/>
            <a:ext cx="3155582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天线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46CC2E-BC1C-E410-D43B-DB8534DC5B09}"/>
              </a:ext>
            </a:extLst>
          </p:cNvPr>
          <p:cNvSpPr/>
          <p:nvPr/>
        </p:nvSpPr>
        <p:spPr>
          <a:xfrm>
            <a:off x="4410787" y="5501183"/>
            <a:ext cx="3155582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天线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3001F7F-0020-30AE-BA72-73AFBBAC91F3}"/>
              </a:ext>
            </a:extLst>
          </p:cNvPr>
          <p:cNvSpPr txBox="1"/>
          <p:nvPr/>
        </p:nvSpPr>
        <p:spPr>
          <a:xfrm>
            <a:off x="4427273" y="4802785"/>
            <a:ext cx="139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GFSK</a:t>
            </a:r>
            <a:r>
              <a:rPr lang="zh-CN" altLang="en-US"/>
              <a:t>解调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7F94623D-AA30-46D2-2579-D29B369DBD58}"/>
              </a:ext>
            </a:extLst>
          </p:cNvPr>
          <p:cNvSpPr/>
          <p:nvPr/>
        </p:nvSpPr>
        <p:spPr>
          <a:xfrm rot="16200000">
            <a:off x="5615279" y="4786848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7C101D-9691-11C4-D037-A0B6CABE5C7C}"/>
              </a:ext>
            </a:extLst>
          </p:cNvPr>
          <p:cNvSpPr/>
          <p:nvPr/>
        </p:nvSpPr>
        <p:spPr>
          <a:xfrm>
            <a:off x="4347177" y="4009603"/>
            <a:ext cx="3155582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1010101011000011……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A514838-5F97-5886-A0F5-2A83B098E1CC}"/>
              </a:ext>
            </a:extLst>
          </p:cNvPr>
          <p:cNvSpPr/>
          <p:nvPr/>
        </p:nvSpPr>
        <p:spPr>
          <a:xfrm>
            <a:off x="6340032" y="3231984"/>
            <a:ext cx="1440000" cy="4556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接收地址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3907F34-39BB-590B-FAF5-DAD58ACD99CB}"/>
              </a:ext>
            </a:extLst>
          </p:cNvPr>
          <p:cNvSpPr txBox="1"/>
          <p:nvPr/>
        </p:nvSpPr>
        <p:spPr>
          <a:xfrm>
            <a:off x="4165221" y="3136636"/>
            <a:ext cx="1748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拆解数据包</a:t>
            </a:r>
            <a:endParaRPr lang="en-US" altLang="zh-CN"/>
          </a:p>
          <a:p>
            <a:pPr algn="ctr"/>
            <a:r>
              <a:rPr lang="zh-CN" altLang="en-US"/>
              <a:t>比对接收地址</a:t>
            </a:r>
            <a:endParaRPr lang="en-US" altLang="zh-CN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B3C74C8-C91A-84C2-BAEC-CBE3D4EF397C}"/>
              </a:ext>
            </a:extLst>
          </p:cNvPr>
          <p:cNvSpPr/>
          <p:nvPr/>
        </p:nvSpPr>
        <p:spPr>
          <a:xfrm>
            <a:off x="5283035" y="2451045"/>
            <a:ext cx="1440000" cy="457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接收数据</a:t>
            </a: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301A5852-2ED4-8E11-D865-0F5FD44EE8D5}"/>
              </a:ext>
            </a:extLst>
          </p:cNvPr>
          <p:cNvSpPr/>
          <p:nvPr/>
        </p:nvSpPr>
        <p:spPr>
          <a:xfrm rot="16200000">
            <a:off x="5615279" y="3279191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E5ACF91A-C4CA-6CEC-2142-E7DF8E195745}"/>
              </a:ext>
            </a:extLst>
          </p:cNvPr>
          <p:cNvSpPr/>
          <p:nvPr/>
        </p:nvSpPr>
        <p:spPr>
          <a:xfrm rot="16200000">
            <a:off x="5615279" y="1702562"/>
            <a:ext cx="74256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7CF6116-D432-C3F0-3A5F-E25EAB74A9EB}"/>
              </a:ext>
            </a:extLst>
          </p:cNvPr>
          <p:cNvSpPr txBox="1"/>
          <p:nvPr/>
        </p:nvSpPr>
        <p:spPr>
          <a:xfrm>
            <a:off x="4471963" y="1700675"/>
            <a:ext cx="1303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SPI</a:t>
            </a:r>
            <a:r>
              <a:rPr lang="zh-CN" altLang="en-US"/>
              <a:t>读取</a:t>
            </a:r>
          </a:p>
        </p:txBody>
      </p:sp>
    </p:spTree>
    <p:extLst>
      <p:ext uri="{BB962C8B-B14F-4D97-AF65-F5344CB8AC3E}">
        <p14:creationId xmlns:p14="http://schemas.microsoft.com/office/powerpoint/2010/main" val="222217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数据包格式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AD26CE1-CE47-4804-554A-7AB776095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99" y="3804358"/>
            <a:ext cx="10002741" cy="10655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75AC6A-97A1-AB18-FC53-486957020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409" y="5105949"/>
            <a:ext cx="5777050" cy="904234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DF709D2-5D98-E817-154C-A6956250A7EF}"/>
              </a:ext>
            </a:extLst>
          </p:cNvPr>
          <p:cNvCxnSpPr>
            <a:cxnSpLocks/>
          </p:cNvCxnSpPr>
          <p:nvPr/>
        </p:nvCxnSpPr>
        <p:spPr>
          <a:xfrm flipH="1">
            <a:off x="2870421" y="4602802"/>
            <a:ext cx="1305139" cy="688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AA48271-6974-134A-35C8-987B70922965}"/>
              </a:ext>
            </a:extLst>
          </p:cNvPr>
          <p:cNvCxnSpPr>
            <a:cxnSpLocks/>
          </p:cNvCxnSpPr>
          <p:nvPr/>
        </p:nvCxnSpPr>
        <p:spPr>
          <a:xfrm>
            <a:off x="6704075" y="4602802"/>
            <a:ext cx="1477817" cy="688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016E373-80D3-4897-1B92-FCAB058DC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710" y="1893375"/>
            <a:ext cx="8396577" cy="96765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9243037-A4FF-F77F-D66E-8DDF6E5F5DFE}"/>
              </a:ext>
            </a:extLst>
          </p:cNvPr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ShockBurst</a:t>
            </a:r>
            <a:r>
              <a:rPr lang="zh-CN" altLang="en-US" sz="2400"/>
              <a:t>数据包（旧版）</a:t>
            </a:r>
            <a:endParaRPr lang="en-US" altLang="zh-CN" sz="240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A797E2-D1AA-7A30-4B38-DB30E5DFE5A0}"/>
              </a:ext>
            </a:extLst>
          </p:cNvPr>
          <p:cNvSpPr txBox="1"/>
          <p:nvPr/>
        </p:nvSpPr>
        <p:spPr>
          <a:xfrm>
            <a:off x="696000" y="3101863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/>
              <a:t>Enhanced ShockBurst</a:t>
            </a:r>
            <a:r>
              <a:rPr lang="zh-CN" altLang="en-US" sz="2400"/>
              <a:t>数据包</a:t>
            </a:r>
            <a:endParaRPr lang="en-US" altLang="zh-CN" sz="2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43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状态转移图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2554A25-2F11-F82A-D37B-78EE54717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304" y="1219541"/>
            <a:ext cx="5441391" cy="535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9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掉电模式：  </a:t>
            </a:r>
            <a:r>
              <a:rPr lang="en-US" altLang="zh-CN" sz="2400">
                <a:latin typeface="+mn-ea"/>
              </a:rPr>
              <a:t>PWR_UP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待机模式</a:t>
            </a:r>
            <a:r>
              <a:rPr lang="en-US" altLang="zh-CN" sz="2400">
                <a:latin typeface="+mn-ea"/>
              </a:rPr>
              <a:t>I</a:t>
            </a:r>
            <a:r>
              <a:rPr lang="zh-CN" altLang="en-US" sz="2400">
                <a:latin typeface="+mn-ea"/>
              </a:rPr>
              <a:t>： </a:t>
            </a:r>
            <a:r>
              <a:rPr lang="en-US" altLang="zh-CN" sz="2400">
                <a:latin typeface="+mn-ea"/>
              </a:rPr>
              <a:t>PWR_UP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CE</a:t>
            </a:r>
            <a:r>
              <a:rPr lang="zh-CN" altLang="en-US" sz="2400">
                <a:latin typeface="+mn-ea"/>
              </a:rPr>
              <a:t> </a:t>
            </a:r>
            <a:r>
              <a:rPr lang="en-US" altLang="zh-CN" sz="2400">
                <a:latin typeface="+mn-ea"/>
              </a:rPr>
              <a:t>=</a:t>
            </a:r>
            <a:r>
              <a:rPr lang="zh-CN" altLang="en-US" sz="2400">
                <a:latin typeface="+mn-ea"/>
              </a:rPr>
              <a:t> </a:t>
            </a:r>
            <a:r>
              <a:rPr lang="en-US" altLang="zh-CN" sz="2400">
                <a:latin typeface="+mn-ea"/>
              </a:rPr>
              <a:t>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接收模式：  </a:t>
            </a:r>
            <a:r>
              <a:rPr lang="en-US" altLang="zh-CN" sz="2400">
                <a:latin typeface="+mn-ea"/>
              </a:rPr>
              <a:t>PWR_UP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CE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PRIM_RX =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发送模式：  </a:t>
            </a:r>
            <a:r>
              <a:rPr lang="en-US" altLang="zh-CN" sz="2400">
                <a:latin typeface="+mn-ea"/>
              </a:rPr>
              <a:t>PWR_UP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CE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PRIM_RX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待机模式</a:t>
            </a:r>
            <a:r>
              <a:rPr lang="en-US" altLang="zh-CN" sz="2400">
                <a:latin typeface="+mn-ea"/>
              </a:rPr>
              <a:t>II</a:t>
            </a:r>
            <a:r>
              <a:rPr lang="zh-CN" altLang="en-US" sz="2400">
                <a:latin typeface="+mn-ea"/>
              </a:rPr>
              <a:t>：</a:t>
            </a:r>
            <a:r>
              <a:rPr lang="en-US" altLang="zh-CN" sz="2400">
                <a:latin typeface="+mn-ea"/>
              </a:rPr>
              <a:t>PWR_UP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CE = 1</a:t>
            </a:r>
            <a:r>
              <a:rPr lang="zh-CN" altLang="en-US" sz="2400">
                <a:latin typeface="+mn-ea"/>
              </a:rPr>
              <a:t>，</a:t>
            </a:r>
            <a:r>
              <a:rPr lang="en-US" altLang="zh-CN" sz="2400">
                <a:latin typeface="+mn-ea"/>
              </a:rPr>
              <a:t>PRIM_RX = 0</a:t>
            </a:r>
            <a:r>
              <a:rPr lang="zh-CN" altLang="en-US" sz="2400">
                <a:latin typeface="+mn-ea"/>
              </a:rPr>
              <a:t>，发送</a:t>
            </a:r>
            <a:r>
              <a:rPr lang="en-US" altLang="zh-CN" sz="2400">
                <a:latin typeface="+mn-ea"/>
              </a:rPr>
              <a:t>FIFO</a:t>
            </a:r>
            <a:r>
              <a:rPr lang="zh-CN" altLang="en-US" sz="2400">
                <a:latin typeface="+mn-ea"/>
              </a:rPr>
              <a:t>空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模式控制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B9177C8-373E-D816-348A-C2720285D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99" y="3280889"/>
            <a:ext cx="9716368" cy="29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8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一对多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BEAF1BB-DFA5-D88E-245B-E6B949D9E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37" y="2149936"/>
            <a:ext cx="4131131" cy="4114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2B4D7C-89BB-D47C-A15D-30E84A5B2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818" y="2773326"/>
            <a:ext cx="4598975" cy="286726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B73F03-4322-8AE1-6949-8F9502AA7793}"/>
              </a:ext>
            </a:extLst>
          </p:cNvPr>
          <p:cNvSpPr txBox="1"/>
          <p:nvPr/>
        </p:nvSpPr>
        <p:spPr>
          <a:xfrm>
            <a:off x="696000" y="121954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PTX</a:t>
            </a:r>
            <a:r>
              <a:rPr lang="zh-CN" altLang="en-US" sz="2400">
                <a:latin typeface="+mn-ea"/>
              </a:rPr>
              <a:t>设备发出数据包，</a:t>
            </a:r>
            <a:r>
              <a:rPr lang="en-US" altLang="zh-CN" sz="2400">
                <a:latin typeface="+mn-ea"/>
              </a:rPr>
              <a:t>PRX</a:t>
            </a:r>
            <a:r>
              <a:rPr lang="zh-CN" altLang="en-US" sz="2400">
                <a:latin typeface="+mn-ea"/>
              </a:rPr>
              <a:t>设备地址匹配的接收通道收到数据包</a:t>
            </a:r>
            <a:endParaRPr lang="en-US" altLang="zh-CN" sz="240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PRX</a:t>
            </a:r>
            <a:r>
              <a:rPr lang="zh-CN" altLang="en-US" sz="2400">
                <a:latin typeface="+mn-ea"/>
              </a:rPr>
              <a:t>设备以相同地址发出应答包，</a:t>
            </a:r>
            <a:r>
              <a:rPr lang="en-US" altLang="zh-CN" sz="2400">
                <a:latin typeface="+mn-ea"/>
              </a:rPr>
              <a:t>PTX</a:t>
            </a:r>
            <a:r>
              <a:rPr lang="zh-CN" altLang="en-US" sz="2400">
                <a:latin typeface="+mn-ea"/>
              </a:rPr>
              <a:t>设备接收通道</a:t>
            </a:r>
            <a:r>
              <a:rPr lang="en-US" altLang="zh-CN" sz="2400">
                <a:latin typeface="+mn-ea"/>
              </a:rPr>
              <a:t>0</a:t>
            </a:r>
            <a:r>
              <a:rPr lang="zh-CN" altLang="en-US" sz="2400">
                <a:latin typeface="+mn-ea"/>
              </a:rPr>
              <a:t>收到应答包</a:t>
            </a:r>
            <a:endParaRPr lang="en-US" altLang="zh-CN" sz="2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7729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自动应答和自动重传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9157569-333C-C4FC-18F4-DDCF46753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99" y="2052949"/>
            <a:ext cx="5222234" cy="3604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30C8C4-27D3-ACD1-C029-D53A14AAD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53" y="1298236"/>
            <a:ext cx="5444947" cy="25568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1E4CC97-217F-8AC0-B27A-8D8EC4067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52" y="3892419"/>
            <a:ext cx="5444947" cy="255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23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SPI</a:t>
            </a:r>
            <a:r>
              <a:rPr lang="zh-CN" altLang="en-US" sz="2400">
                <a:latin typeface="+mn-ea"/>
              </a:rPr>
              <a:t>是一种通用的同步、全双工串行通信总线，支持一主多从</a:t>
            </a:r>
            <a:endParaRPr lang="en-US" altLang="zh-CN" sz="2400">
              <a:latin typeface="+mn-ea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四根通信线：</a:t>
            </a:r>
            <a:r>
              <a:rPr lang="en-US" altLang="zh-CN" sz="2400"/>
              <a:t>SS/CS</a:t>
            </a:r>
            <a:r>
              <a:rPr lang="zh-CN" altLang="en-US" sz="2400"/>
              <a:t>选中从机，在</a:t>
            </a:r>
            <a:r>
              <a:rPr lang="en-US" altLang="zh-CN" sz="2400"/>
              <a:t>SCK</a:t>
            </a:r>
            <a:r>
              <a:rPr lang="zh-CN" altLang="en-US" sz="2400"/>
              <a:t>时钟的同步下，</a:t>
            </a:r>
            <a:r>
              <a:rPr lang="en-US" altLang="zh-CN" sz="2400"/>
              <a:t>MOSI</a:t>
            </a:r>
            <a:r>
              <a:rPr lang="zh-CN" altLang="en-US" sz="2400"/>
              <a:t>传输主机至从机的数据流，</a:t>
            </a:r>
            <a:r>
              <a:rPr lang="en-US" altLang="zh-CN" sz="2400"/>
              <a:t>MISO</a:t>
            </a:r>
            <a:r>
              <a:rPr lang="zh-CN" altLang="en-US" sz="2400"/>
              <a:t>传输从机至主机的数据流，一次传输会发送同时接收一个字节</a:t>
            </a:r>
            <a:endParaRPr lang="en-US" altLang="zh-CN" sz="2400"/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SPI</a:t>
            </a:r>
            <a:r>
              <a:rPr lang="zh-CN" altLang="en-US" sz="2800"/>
              <a:t>通信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A7B2555-F9F8-3F22-255E-BB2B6E029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62" y="3251306"/>
            <a:ext cx="4528008" cy="268330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62B3C18-C7E5-43B8-AA76-C198B8DE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980" y="3251306"/>
            <a:ext cx="5564556" cy="267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+mn-ea"/>
              </a:rPr>
              <a:t>CSN</a:t>
            </a:r>
            <a:r>
              <a:rPr lang="zh-CN" altLang="en-US" sz="2400">
                <a:latin typeface="+mn-ea"/>
              </a:rPr>
              <a:t>下降沿通信开始，第一个发送的字节表示指令，根据指令的不同，后续可以跟写操作、读操作或者不执行操作，最后</a:t>
            </a:r>
            <a:r>
              <a:rPr lang="en-US" altLang="zh-CN" sz="2400">
                <a:latin typeface="+mn-ea"/>
              </a:rPr>
              <a:t>CSN</a:t>
            </a:r>
            <a:r>
              <a:rPr lang="zh-CN" altLang="en-US" sz="2400">
                <a:latin typeface="+mn-ea"/>
              </a:rPr>
              <a:t>上升沿通信结束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SPI</a:t>
            </a:r>
            <a:r>
              <a:rPr lang="zh-CN" altLang="en-US" sz="2800"/>
              <a:t>通信过程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2FDF105-D4B2-A3E4-2115-0407E177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842" y="2439751"/>
            <a:ext cx="7078316" cy="361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4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NRF24L01</a:t>
            </a:r>
            <a:r>
              <a:rPr lang="zh-CN" altLang="en-US" sz="2800"/>
              <a:t>指令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B350E7E-ACAE-E357-A51A-A76497D98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26" y="1333811"/>
            <a:ext cx="4663547" cy="504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1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NRF24L01</a:t>
            </a:r>
            <a:r>
              <a:rPr lang="zh-CN" altLang="en-US" sz="2800"/>
              <a:t>寄存器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71505C0-25FB-2B70-89CA-5A9699F75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17460"/>
              </p:ext>
            </p:extLst>
          </p:nvPr>
        </p:nvGraphicFramePr>
        <p:xfrm>
          <a:off x="1596000" y="1269988"/>
          <a:ext cx="900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51113314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168471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34268312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2952098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835908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89809393"/>
                    </a:ext>
                  </a:extLst>
                </a:gridCol>
              </a:tblGrid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释义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释义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855510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CONFIG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配置寄存器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0D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RX_ADDR_P3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732595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EN_AA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使能自动应答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RX_ADDR_P4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100556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EN_RXADDR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使能接收通道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0F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RX_ADDR_P5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833314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SETUP_AW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设置地址宽度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TX_ADDR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发送地址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861378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SETUP_RETR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设置自动重传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0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957303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05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RF_CH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射频通道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594707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RF_SETUP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射频相关参数设置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576256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07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STATUS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状态寄存器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RX_PW_P3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907869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08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OBSERVE_TX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发送观察寄存器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15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RX_PW_P4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123700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09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RPD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接收功率检测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16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RX_PW_P5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宽度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4543543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0A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RX_ADDR_P0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0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17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FIFO_STATUS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FIFO</a:t>
                      </a:r>
                      <a:r>
                        <a:rPr lang="zh-CN" altLang="en-US"/>
                        <a:t>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418222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0B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RX_ADDR_P1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1C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DYNPD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使能动态包长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170921"/>
                  </a:ext>
                </a:extLst>
              </a:tr>
              <a:tr h="231591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0C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RX_ADDR_P2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接收通道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地址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1D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FEATURE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使能高级特征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1090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写寄存器，给</a:t>
            </a:r>
            <a:r>
              <a:rPr lang="en-US" altLang="zh-CN" sz="2400"/>
              <a:t>SETUP_RETR</a:t>
            </a:r>
            <a:r>
              <a:rPr lang="zh-CN" altLang="en-US" sz="2400"/>
              <a:t>寄存器写入</a:t>
            </a:r>
            <a:r>
              <a:rPr lang="en-US" altLang="zh-CN" sz="2400"/>
              <a:t>0x55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操作示例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3D38072-D588-C42A-9433-03EB33105CE1}"/>
              </a:ext>
            </a:extLst>
          </p:cNvPr>
          <p:cNvGrpSpPr/>
          <p:nvPr/>
        </p:nvGrpSpPr>
        <p:grpSpPr>
          <a:xfrm>
            <a:off x="2744050" y="3814208"/>
            <a:ext cx="6703899" cy="648000"/>
            <a:chOff x="2366049" y="4351867"/>
            <a:chExt cx="6703899" cy="648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B1445E5-BDF4-E643-4CB9-56BC4AE37ECF}"/>
                </a:ext>
              </a:extLst>
            </p:cNvPr>
            <p:cNvSpPr/>
            <p:nvPr/>
          </p:nvSpPr>
          <p:spPr>
            <a:xfrm>
              <a:off x="2366049" y="4351867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89D06-4626-DDAA-FB26-D2EF9B51431A}"/>
                </a:ext>
              </a:extLst>
            </p:cNvPr>
            <p:cNvSpPr/>
            <p:nvPr/>
          </p:nvSpPr>
          <p:spPr>
            <a:xfrm>
              <a:off x="3700682" y="4351867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0x00 | 0x05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DC6B15B-F05F-6191-7A4A-E0E0BC666CF1}"/>
                </a:ext>
              </a:extLst>
            </p:cNvPr>
            <p:cNvSpPr/>
            <p:nvPr/>
          </p:nvSpPr>
          <p:spPr>
            <a:xfrm>
              <a:off x="5935315" y="4351867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RF_CH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3DB3F6-D1A6-FDBA-5DE8-13895CE0D300}"/>
                </a:ext>
              </a:extLst>
            </p:cNvPr>
            <p:cNvSpPr/>
            <p:nvPr/>
          </p:nvSpPr>
          <p:spPr>
            <a:xfrm>
              <a:off x="8169948" y="4351867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F9B0E60-C094-56D3-A9B7-A6C16F4E1538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>
              <a:off x="3266049" y="4675867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12380D2-8398-0F7C-2B71-6A15CC11A68A}"/>
                </a:ext>
              </a:extLst>
            </p:cNvPr>
            <p:cNvCxnSpPr>
              <a:cxnSpLocks/>
              <a:stCxn id="3" idx="3"/>
              <a:endCxn id="5" idx="1"/>
            </p:cNvCxnSpPr>
            <p:nvPr/>
          </p:nvCxnSpPr>
          <p:spPr>
            <a:xfrm>
              <a:off x="5500682" y="4675867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853BE6C-178D-91A7-5E07-3F48AA12F78D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7735315" y="4675867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0BB1A60-0ABF-8089-2E52-F572FB594B90}"/>
              </a:ext>
            </a:extLst>
          </p:cNvPr>
          <p:cNvSpPr txBox="1"/>
          <p:nvPr/>
        </p:nvSpPr>
        <p:spPr>
          <a:xfrm>
            <a:off x="696000" y="3010118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读寄存器，读出</a:t>
            </a:r>
            <a:r>
              <a:rPr lang="en-US" altLang="zh-CN" sz="2400">
                <a:latin typeface="+mn-ea"/>
              </a:rPr>
              <a:t>RF_CH</a:t>
            </a:r>
            <a:r>
              <a:rPr lang="zh-CN" altLang="en-US" sz="2400">
                <a:latin typeface="+mn-ea"/>
              </a:rPr>
              <a:t>寄存器的值</a:t>
            </a:r>
            <a:endParaRPr lang="en-US" altLang="zh-CN" sz="2400">
              <a:latin typeface="+mn-ea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FE03DD5-83B0-D45E-92FF-75470EA81329}"/>
              </a:ext>
            </a:extLst>
          </p:cNvPr>
          <p:cNvGrpSpPr/>
          <p:nvPr/>
        </p:nvGrpSpPr>
        <p:grpSpPr>
          <a:xfrm>
            <a:off x="2744050" y="2019692"/>
            <a:ext cx="6703899" cy="648000"/>
            <a:chOff x="2366049" y="1850711"/>
            <a:chExt cx="6703899" cy="6480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CF11593-1099-A566-6520-D433FD46E781}"/>
                </a:ext>
              </a:extLst>
            </p:cNvPr>
            <p:cNvSpPr/>
            <p:nvPr/>
          </p:nvSpPr>
          <p:spPr>
            <a:xfrm>
              <a:off x="2366049" y="1850711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E3903A2-B79A-EDB6-BBBA-7216DB5E15FD}"/>
                </a:ext>
              </a:extLst>
            </p:cNvPr>
            <p:cNvSpPr/>
            <p:nvPr/>
          </p:nvSpPr>
          <p:spPr>
            <a:xfrm>
              <a:off x="3700682" y="1850711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0x20 | 0x04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6321ADF-72E6-7A45-2F4C-E5BAB797B875}"/>
                </a:ext>
              </a:extLst>
            </p:cNvPr>
            <p:cNvSpPr/>
            <p:nvPr/>
          </p:nvSpPr>
          <p:spPr>
            <a:xfrm>
              <a:off x="5935315" y="1850711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0x55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4AC3F76-66F0-6035-51E6-40155656FBAB}"/>
                </a:ext>
              </a:extLst>
            </p:cNvPr>
            <p:cNvSpPr/>
            <p:nvPr/>
          </p:nvSpPr>
          <p:spPr>
            <a:xfrm>
              <a:off x="8169948" y="1850711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2D2EC11-3535-4F67-C885-B74293B71C9F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>
              <a:off x="3266049" y="2174711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B05C814-EE62-0B27-BDAA-9CF2662CB07E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>
              <a:off x="5500682" y="2174711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B0EA0B6-F5ED-3A27-9C59-AD1836152581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7735315" y="2174711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5100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操作示例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148917AB-BB6A-D8BA-AF9F-050858F5F3C0}"/>
              </a:ext>
            </a:extLst>
          </p:cNvPr>
          <p:cNvSpPr txBox="1"/>
          <p:nvPr/>
        </p:nvSpPr>
        <p:spPr>
          <a:xfrm>
            <a:off x="696000" y="3720855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读寄存器，读出</a:t>
            </a:r>
            <a:r>
              <a:rPr lang="en-US" altLang="zh-CN" sz="2400"/>
              <a:t>TX_ADDR</a:t>
            </a:r>
            <a:r>
              <a:rPr lang="zh-CN" altLang="en-US" sz="2400">
                <a:latin typeface="+mn-ea"/>
              </a:rPr>
              <a:t>寄存器的值，读</a:t>
            </a:r>
            <a:r>
              <a:rPr lang="en-US" altLang="zh-CN" sz="2400">
                <a:latin typeface="+mn-ea"/>
              </a:rPr>
              <a:t>5</a:t>
            </a:r>
            <a:r>
              <a:rPr lang="zh-CN" altLang="en-US" sz="2400">
                <a:latin typeface="+mn-ea"/>
              </a:rPr>
              <a:t>字节</a:t>
            </a:r>
            <a:endParaRPr lang="en-US" altLang="zh-CN" sz="2400">
              <a:latin typeface="+mn-ea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A6F321B-29C3-8C2B-1863-9057D6618F27}"/>
              </a:ext>
            </a:extLst>
          </p:cNvPr>
          <p:cNvGrpSpPr/>
          <p:nvPr/>
        </p:nvGrpSpPr>
        <p:grpSpPr>
          <a:xfrm>
            <a:off x="1554204" y="1948173"/>
            <a:ext cx="9083592" cy="1499169"/>
            <a:chOff x="814738" y="1866736"/>
            <a:chExt cx="9083592" cy="1499169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FD614C9-45E7-6094-2E1B-792DE5ACE330}"/>
                </a:ext>
              </a:extLst>
            </p:cNvPr>
            <p:cNvSpPr/>
            <p:nvPr/>
          </p:nvSpPr>
          <p:spPr>
            <a:xfrm>
              <a:off x="814738" y="1866736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E11E6FD-C436-756C-C47D-779D954CC9AD}"/>
                </a:ext>
              </a:extLst>
            </p:cNvPr>
            <p:cNvSpPr/>
            <p:nvPr/>
          </p:nvSpPr>
          <p:spPr>
            <a:xfrm>
              <a:off x="2185636" y="1867350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0x20 | 0x10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DF919EE-8529-919E-FC75-E6D849A0430F}"/>
                </a:ext>
              </a:extLst>
            </p:cNvPr>
            <p:cNvSpPr/>
            <p:nvPr/>
          </p:nvSpPr>
          <p:spPr>
            <a:xfrm>
              <a:off x="4456534" y="1866736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0x11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4C71A78-E34F-45A0-2FED-189237B18EE8}"/>
                </a:ext>
              </a:extLst>
            </p:cNvPr>
            <p:cNvSpPr/>
            <p:nvPr/>
          </p:nvSpPr>
          <p:spPr>
            <a:xfrm>
              <a:off x="8998330" y="2717905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C01A24B-E274-2EC5-1AEF-2768633151E4}"/>
                </a:ext>
              </a:extLst>
            </p:cNvPr>
            <p:cNvCxnSpPr>
              <a:cxnSpLocks/>
              <a:stCxn id="38" idx="3"/>
              <a:endCxn id="39" idx="1"/>
            </p:cNvCxnSpPr>
            <p:nvPr/>
          </p:nvCxnSpPr>
          <p:spPr>
            <a:xfrm>
              <a:off x="1714738" y="2190736"/>
              <a:ext cx="470898" cy="61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ACF1B2FA-6528-A46B-F7D1-EEF444E25E1D}"/>
                </a:ext>
              </a:extLst>
            </p:cNvPr>
            <p:cNvCxnSpPr>
              <a:cxnSpLocks/>
              <a:stCxn id="39" idx="3"/>
              <a:endCxn id="40" idx="1"/>
            </p:cNvCxnSpPr>
            <p:nvPr/>
          </p:nvCxnSpPr>
          <p:spPr>
            <a:xfrm flipV="1">
              <a:off x="3985636" y="2190736"/>
              <a:ext cx="470898" cy="61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B147FAA-F892-FD89-B720-5B58CDF8121D}"/>
                </a:ext>
              </a:extLst>
            </p:cNvPr>
            <p:cNvCxnSpPr>
              <a:cxnSpLocks/>
              <a:stCxn id="53" idx="3"/>
              <a:endCxn id="41" idx="1"/>
            </p:cNvCxnSpPr>
            <p:nvPr/>
          </p:nvCxnSpPr>
          <p:spPr>
            <a:xfrm>
              <a:off x="8527432" y="3041905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202ED24-6812-72BA-5E1B-C1F2078796F1}"/>
                </a:ext>
              </a:extLst>
            </p:cNvPr>
            <p:cNvSpPr/>
            <p:nvPr/>
          </p:nvSpPr>
          <p:spPr>
            <a:xfrm>
              <a:off x="6727432" y="1866736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0x22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0A5E925-837D-4AC1-F394-A216E55A5F85}"/>
                </a:ext>
              </a:extLst>
            </p:cNvPr>
            <p:cNvCxnSpPr>
              <a:cxnSpLocks/>
              <a:stCxn id="40" idx="3"/>
              <a:endCxn id="47" idx="1"/>
            </p:cNvCxnSpPr>
            <p:nvPr/>
          </p:nvCxnSpPr>
          <p:spPr>
            <a:xfrm>
              <a:off x="6256534" y="2190736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056C734-7FD7-16D3-EAD4-C003FE6C7742}"/>
                </a:ext>
              </a:extLst>
            </p:cNvPr>
            <p:cNvSpPr/>
            <p:nvPr/>
          </p:nvSpPr>
          <p:spPr>
            <a:xfrm>
              <a:off x="2185636" y="2717905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0x33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C0E9768-C415-ABFB-9E47-178770104A78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>
              <a:off x="1751004" y="3041905"/>
              <a:ext cx="43463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95FE486-608F-577A-D701-4B704BC12BAC}"/>
                </a:ext>
              </a:extLst>
            </p:cNvPr>
            <p:cNvSpPr/>
            <p:nvPr/>
          </p:nvSpPr>
          <p:spPr>
            <a:xfrm>
              <a:off x="4456534" y="2717905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0x44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6B653AC8-EB40-686D-0773-609636F35C59}"/>
                </a:ext>
              </a:extLst>
            </p:cNvPr>
            <p:cNvCxnSpPr>
              <a:cxnSpLocks/>
              <a:stCxn id="49" idx="3"/>
              <a:endCxn id="51" idx="1"/>
            </p:cNvCxnSpPr>
            <p:nvPr/>
          </p:nvCxnSpPr>
          <p:spPr>
            <a:xfrm>
              <a:off x="3985636" y="3041905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739575D-5D5B-BFBD-511C-23CFD250DFC9}"/>
                </a:ext>
              </a:extLst>
            </p:cNvPr>
            <p:cNvSpPr/>
            <p:nvPr/>
          </p:nvSpPr>
          <p:spPr>
            <a:xfrm>
              <a:off x="6727432" y="2717905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0x55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C191670-C3C0-8DF4-1FCC-12781E73AF3B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>
            <a:xfrm>
              <a:off x="6256534" y="3041905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662EEE3-44ED-C859-F13A-EFA10A6CA9D7}"/>
              </a:ext>
            </a:extLst>
          </p:cNvPr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写寄存器，给</a:t>
            </a:r>
            <a:r>
              <a:rPr lang="en-US" altLang="zh-CN" sz="2400"/>
              <a:t>TX_ADDR</a:t>
            </a:r>
            <a:r>
              <a:rPr lang="zh-CN" altLang="en-US" sz="2400">
                <a:latin typeface="+mn-ea"/>
              </a:rPr>
              <a:t>寄存器写入</a:t>
            </a:r>
            <a:r>
              <a:rPr lang="en-US" altLang="zh-CN" sz="2400">
                <a:latin typeface="+mn-ea"/>
              </a:rPr>
              <a:t>0x11, 0x22, 0x33, 0x44, 0x55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F861C00-6BE7-C131-874E-F0A1D6D08CE4}"/>
              </a:ext>
            </a:extLst>
          </p:cNvPr>
          <p:cNvGrpSpPr/>
          <p:nvPr/>
        </p:nvGrpSpPr>
        <p:grpSpPr>
          <a:xfrm>
            <a:off x="1199571" y="4451826"/>
            <a:ext cx="9792858" cy="1493262"/>
            <a:chOff x="814738" y="4660818"/>
            <a:chExt cx="9792858" cy="149326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F91C08-D22D-3682-075C-292AB7CA5B83}"/>
                </a:ext>
              </a:extLst>
            </p:cNvPr>
            <p:cNvSpPr/>
            <p:nvPr/>
          </p:nvSpPr>
          <p:spPr>
            <a:xfrm>
              <a:off x="814738" y="4660818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27005-4DB6-A65D-700C-3C6D822D2E3E}"/>
                </a:ext>
              </a:extLst>
            </p:cNvPr>
            <p:cNvSpPr/>
            <p:nvPr/>
          </p:nvSpPr>
          <p:spPr>
            <a:xfrm>
              <a:off x="2185636" y="4660818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0x00 | 0x10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BE0476F-2C64-95FD-034C-B13DF3771178}"/>
                </a:ext>
              </a:extLst>
            </p:cNvPr>
            <p:cNvSpPr/>
            <p:nvPr/>
          </p:nvSpPr>
          <p:spPr>
            <a:xfrm>
              <a:off x="4452956" y="4660818"/>
              <a:ext cx="216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 sz="1800">
                  <a:solidFill>
                    <a:srgbClr val="00B050"/>
                  </a:solidFill>
                </a:rPr>
                <a:t>TX_ADDR[0]</a:t>
              </a:r>
              <a:r>
                <a:rPr lang="zh-CN" altLang="en-US" sz="1800">
                  <a:solidFill>
                    <a:srgbClr val="00B050"/>
                  </a:solidFill>
                </a:rPr>
                <a:t>值</a:t>
              </a:r>
              <a:endParaRPr lang="zh-CN" altLang="en-US">
                <a:solidFill>
                  <a:srgbClr val="00B050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D74C5D8-1C05-5025-66D3-0883199A61D7}"/>
                </a:ext>
              </a:extLst>
            </p:cNvPr>
            <p:cNvSpPr/>
            <p:nvPr/>
          </p:nvSpPr>
          <p:spPr>
            <a:xfrm>
              <a:off x="9707596" y="5506080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FD361F6-304A-F4EB-4B96-5C4C78C210C4}"/>
                </a:ext>
              </a:extLst>
            </p:cNvPr>
            <p:cNvCxnSpPr>
              <a:cxnSpLocks/>
              <a:stCxn id="14" idx="3"/>
              <a:endCxn id="19" idx="1"/>
            </p:cNvCxnSpPr>
            <p:nvPr/>
          </p:nvCxnSpPr>
          <p:spPr>
            <a:xfrm>
              <a:off x="1714738" y="4984818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2146B91-F3D6-0D52-11A9-BBD2BA2F9FAA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>
            <a:xfrm>
              <a:off x="3985636" y="4984818"/>
              <a:ext cx="467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CD3DE3F-B866-B000-3376-191C1EE562DB}"/>
                </a:ext>
              </a:extLst>
            </p:cNvPr>
            <p:cNvCxnSpPr>
              <a:cxnSpLocks/>
              <a:stCxn id="57" idx="3"/>
              <a:endCxn id="21" idx="1"/>
            </p:cNvCxnSpPr>
            <p:nvPr/>
          </p:nvCxnSpPr>
          <p:spPr>
            <a:xfrm>
              <a:off x="9240276" y="5830080"/>
              <a:ext cx="467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EAA2B20-C420-79FF-D1C5-E37BB5736276}"/>
                </a:ext>
              </a:extLst>
            </p:cNvPr>
            <p:cNvSpPr/>
            <p:nvPr/>
          </p:nvSpPr>
          <p:spPr>
            <a:xfrm>
              <a:off x="7080276" y="4660818"/>
              <a:ext cx="216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TX_ADDR[1]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D79BC77-E58E-6356-428D-740B3F9956FB}"/>
                </a:ext>
              </a:extLst>
            </p:cNvPr>
            <p:cNvCxnSpPr>
              <a:cxnSpLocks/>
              <a:stCxn id="20" idx="3"/>
              <a:endCxn id="35" idx="1"/>
            </p:cNvCxnSpPr>
            <p:nvPr/>
          </p:nvCxnSpPr>
          <p:spPr>
            <a:xfrm>
              <a:off x="6612956" y="4984818"/>
              <a:ext cx="467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BB40F3B-6557-BDA9-AF8F-153A04437C7B}"/>
                </a:ext>
              </a:extLst>
            </p:cNvPr>
            <p:cNvSpPr/>
            <p:nvPr/>
          </p:nvSpPr>
          <p:spPr>
            <a:xfrm>
              <a:off x="1825636" y="5506080"/>
              <a:ext cx="216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TX_ADDR[2]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0D964D0-6F58-F033-1478-FA0D52A44626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1391004" y="5830080"/>
              <a:ext cx="43463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9D4D9E4-3229-F932-0E15-869768101392}"/>
                </a:ext>
              </a:extLst>
            </p:cNvPr>
            <p:cNvSpPr/>
            <p:nvPr/>
          </p:nvSpPr>
          <p:spPr>
            <a:xfrm>
              <a:off x="4452956" y="5506080"/>
              <a:ext cx="216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TX_ADDR[3]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8F7C1AF-488C-D3B3-0E4A-42E1E199534E}"/>
                </a:ext>
              </a:extLst>
            </p:cNvPr>
            <p:cNvCxnSpPr>
              <a:cxnSpLocks/>
              <a:stCxn id="45" idx="3"/>
              <a:endCxn id="55" idx="1"/>
            </p:cNvCxnSpPr>
            <p:nvPr/>
          </p:nvCxnSpPr>
          <p:spPr>
            <a:xfrm>
              <a:off x="3985636" y="5830080"/>
              <a:ext cx="467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6134E4D-9A33-46AA-C05C-373A2D80AEA1}"/>
                </a:ext>
              </a:extLst>
            </p:cNvPr>
            <p:cNvSpPr/>
            <p:nvPr/>
          </p:nvSpPr>
          <p:spPr>
            <a:xfrm>
              <a:off x="7080276" y="5506080"/>
              <a:ext cx="216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TX_ADDR[4]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7C517AE-0F30-EEDF-4622-85D619AE0A22}"/>
                </a:ext>
              </a:extLst>
            </p:cNvPr>
            <p:cNvCxnSpPr>
              <a:cxnSpLocks/>
              <a:stCxn id="55" idx="3"/>
              <a:endCxn id="57" idx="1"/>
            </p:cNvCxnSpPr>
            <p:nvPr/>
          </p:nvCxnSpPr>
          <p:spPr>
            <a:xfrm>
              <a:off x="6612956" y="5830080"/>
              <a:ext cx="46732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138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操作示例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662EEE3-44ED-C859-F13A-EFA10A6CA9D7}"/>
              </a:ext>
            </a:extLst>
          </p:cNvPr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写发送有效载荷，给</a:t>
            </a:r>
            <a:r>
              <a:rPr lang="en-US" altLang="zh-CN" sz="2400">
                <a:latin typeface="+mn-ea"/>
              </a:rPr>
              <a:t>TX_PAYLOAD</a:t>
            </a:r>
            <a:r>
              <a:rPr lang="zh-CN" altLang="en-US" sz="2400">
                <a:latin typeface="+mn-ea"/>
              </a:rPr>
              <a:t>写入</a:t>
            </a:r>
            <a:r>
              <a:rPr lang="en-US" altLang="zh-CN" sz="2400">
                <a:latin typeface="+mn-ea"/>
              </a:rPr>
              <a:t>0x01, 0x02, 0x03, 0x04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9807772-AF57-B54F-02D1-5C71EDE43F4D}"/>
              </a:ext>
            </a:extLst>
          </p:cNvPr>
          <p:cNvGrpSpPr/>
          <p:nvPr/>
        </p:nvGrpSpPr>
        <p:grpSpPr>
          <a:xfrm>
            <a:off x="1574051" y="4425537"/>
            <a:ext cx="9043897" cy="1518389"/>
            <a:chOff x="10200002" y="1948173"/>
            <a:chExt cx="9043897" cy="151838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F91C08-D22D-3682-075C-292AB7CA5B83}"/>
                </a:ext>
              </a:extLst>
            </p:cNvPr>
            <p:cNvSpPr/>
            <p:nvPr/>
          </p:nvSpPr>
          <p:spPr>
            <a:xfrm>
              <a:off x="10200002" y="1948173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F27005-4DB6-A65D-700C-3C6D822D2E3E}"/>
                </a:ext>
              </a:extLst>
            </p:cNvPr>
            <p:cNvSpPr/>
            <p:nvPr/>
          </p:nvSpPr>
          <p:spPr>
            <a:xfrm>
              <a:off x="11534635" y="1948173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0x61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BE0476F-2C64-95FD-034C-B13DF3771178}"/>
                </a:ext>
              </a:extLst>
            </p:cNvPr>
            <p:cNvSpPr/>
            <p:nvPr/>
          </p:nvSpPr>
          <p:spPr>
            <a:xfrm>
              <a:off x="13769267" y="1948173"/>
              <a:ext cx="252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 sz="1800">
                  <a:solidFill>
                    <a:srgbClr val="00B050"/>
                  </a:solidFill>
                </a:rPr>
                <a:t>RX_PAYLOAD[0]</a:t>
              </a:r>
              <a:r>
                <a:rPr lang="zh-CN" altLang="en-US" sz="1800">
                  <a:solidFill>
                    <a:srgbClr val="00B050"/>
                  </a:solidFill>
                </a:rPr>
                <a:t>值</a:t>
              </a:r>
              <a:endParaRPr lang="zh-CN" altLang="en-US">
                <a:solidFill>
                  <a:srgbClr val="00B050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D74C5D8-1C05-5025-66D3-0883199A61D7}"/>
                </a:ext>
              </a:extLst>
            </p:cNvPr>
            <p:cNvSpPr/>
            <p:nvPr/>
          </p:nvSpPr>
          <p:spPr>
            <a:xfrm>
              <a:off x="16723897" y="2818562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FD361F6-304A-F4EB-4B96-5C4C78C210C4}"/>
                </a:ext>
              </a:extLst>
            </p:cNvPr>
            <p:cNvCxnSpPr>
              <a:cxnSpLocks/>
              <a:stCxn id="14" idx="3"/>
              <a:endCxn id="19" idx="1"/>
            </p:cNvCxnSpPr>
            <p:nvPr/>
          </p:nvCxnSpPr>
          <p:spPr>
            <a:xfrm>
              <a:off x="11100002" y="2272173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2146B91-F3D6-0D52-11A9-BBD2BA2F9FAA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>
            <a:xfrm>
              <a:off x="13334635" y="2272173"/>
              <a:ext cx="43463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CD3DE3F-B866-B000-3376-191C1EE562DB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16289264" y="3142562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EAA2B20-C420-79FF-D1C5-E37BB5736276}"/>
                </a:ext>
              </a:extLst>
            </p:cNvPr>
            <p:cNvSpPr/>
            <p:nvPr/>
          </p:nvSpPr>
          <p:spPr>
            <a:xfrm>
              <a:off x="16723899" y="1948173"/>
              <a:ext cx="252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 sz="1800">
                  <a:solidFill>
                    <a:srgbClr val="00B050"/>
                  </a:solidFill>
                </a:rPr>
                <a:t>RX_PAYLOAD</a:t>
              </a:r>
              <a:r>
                <a:rPr lang="en-US" altLang="zh-CN">
                  <a:solidFill>
                    <a:srgbClr val="00B050"/>
                  </a:solidFill>
                </a:rPr>
                <a:t>[1]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D79BC77-E58E-6356-428D-740B3F9956FB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>
              <a:off x="16289267" y="2272173"/>
              <a:ext cx="43463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BB40F3B-6557-BDA9-AF8F-153A04437C7B}"/>
                </a:ext>
              </a:extLst>
            </p:cNvPr>
            <p:cNvSpPr/>
            <p:nvPr/>
          </p:nvSpPr>
          <p:spPr>
            <a:xfrm>
              <a:off x="10814635" y="2802124"/>
              <a:ext cx="252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 sz="1800">
                  <a:solidFill>
                    <a:srgbClr val="00B050"/>
                  </a:solidFill>
                </a:rPr>
                <a:t>RX_PAYLOAD</a:t>
              </a:r>
              <a:r>
                <a:rPr lang="en-US" altLang="zh-CN">
                  <a:solidFill>
                    <a:srgbClr val="00B050"/>
                  </a:solidFill>
                </a:rPr>
                <a:t>[2]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0D964D0-6F58-F033-1478-FA0D52A44626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10380004" y="3126124"/>
              <a:ext cx="43463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9D4D9E4-3229-F932-0E15-869768101392}"/>
                </a:ext>
              </a:extLst>
            </p:cNvPr>
            <p:cNvSpPr/>
            <p:nvPr/>
          </p:nvSpPr>
          <p:spPr>
            <a:xfrm>
              <a:off x="13769266" y="2802124"/>
              <a:ext cx="252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chemeClr val="tx1"/>
                  </a:solidFill>
                </a:rPr>
                <a:t>发：</a:t>
              </a:r>
              <a:r>
                <a:rPr lang="en-US" altLang="zh-CN">
                  <a:solidFill>
                    <a:schemeClr val="tx1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 sz="1800">
                  <a:solidFill>
                    <a:srgbClr val="00B050"/>
                  </a:solidFill>
                </a:rPr>
                <a:t>RX_PAYLOAD</a:t>
              </a:r>
              <a:r>
                <a:rPr lang="en-US" altLang="zh-CN">
                  <a:solidFill>
                    <a:srgbClr val="00B050"/>
                  </a:solidFill>
                </a:rPr>
                <a:t>[3]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8F7C1AF-488C-D3B3-0E4A-42E1E199534E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13334635" y="3126124"/>
              <a:ext cx="43463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1050AE4-3290-3CBC-50C6-24DAD6E75040}"/>
              </a:ext>
            </a:extLst>
          </p:cNvPr>
          <p:cNvGrpSpPr/>
          <p:nvPr/>
        </p:nvGrpSpPr>
        <p:grpSpPr>
          <a:xfrm>
            <a:off x="2239653" y="1948173"/>
            <a:ext cx="7712694" cy="1499169"/>
            <a:chOff x="814738" y="1866736"/>
            <a:chExt cx="7712694" cy="1499169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027BC6D-DFA6-7FD7-6197-512423883B3D}"/>
                </a:ext>
              </a:extLst>
            </p:cNvPr>
            <p:cNvSpPr/>
            <p:nvPr/>
          </p:nvSpPr>
          <p:spPr>
            <a:xfrm>
              <a:off x="814738" y="1866736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39D539-70D8-26EA-A5A5-061C9E7F0E19}"/>
                </a:ext>
              </a:extLst>
            </p:cNvPr>
            <p:cNvSpPr/>
            <p:nvPr/>
          </p:nvSpPr>
          <p:spPr>
            <a:xfrm>
              <a:off x="2185636" y="1867350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0xA0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8630F5C-8353-26CA-334A-34819F4FE0EC}"/>
                </a:ext>
              </a:extLst>
            </p:cNvPr>
            <p:cNvSpPr/>
            <p:nvPr/>
          </p:nvSpPr>
          <p:spPr>
            <a:xfrm>
              <a:off x="4456534" y="1866736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0x01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0FA2D58-00BA-284B-67A3-D0F4F4763C15}"/>
                </a:ext>
              </a:extLst>
            </p:cNvPr>
            <p:cNvSpPr/>
            <p:nvPr/>
          </p:nvSpPr>
          <p:spPr>
            <a:xfrm>
              <a:off x="6727432" y="2717905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88D10D0-3980-59A4-55DA-1432CC7D614B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>
              <a:off x="1714738" y="2190736"/>
              <a:ext cx="470898" cy="61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950A936-52AA-F167-C196-6071D74B66A6}"/>
                </a:ext>
              </a:extLst>
            </p:cNvPr>
            <p:cNvCxnSpPr>
              <a:cxnSpLocks/>
              <a:stCxn id="17" idx="3"/>
              <a:endCxn id="18" idx="1"/>
            </p:cNvCxnSpPr>
            <p:nvPr/>
          </p:nvCxnSpPr>
          <p:spPr>
            <a:xfrm flipV="1">
              <a:off x="3985636" y="2190736"/>
              <a:ext cx="470898" cy="61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66BA62C-F4F6-FB9D-A937-889564E9F1A1}"/>
                </a:ext>
              </a:extLst>
            </p:cNvPr>
            <p:cNvSpPr/>
            <p:nvPr/>
          </p:nvSpPr>
          <p:spPr>
            <a:xfrm>
              <a:off x="6727432" y="1866736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0x02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9CF72C6-50E2-6C06-088A-6E0E27506BC2}"/>
                </a:ext>
              </a:extLst>
            </p:cNvPr>
            <p:cNvCxnSpPr>
              <a:cxnSpLocks/>
              <a:stCxn id="18" idx="3"/>
              <a:endCxn id="27" idx="1"/>
            </p:cNvCxnSpPr>
            <p:nvPr/>
          </p:nvCxnSpPr>
          <p:spPr>
            <a:xfrm>
              <a:off x="6256534" y="2190736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2024340-AA09-3DF1-E710-204F64865AD6}"/>
                </a:ext>
              </a:extLst>
            </p:cNvPr>
            <p:cNvSpPr/>
            <p:nvPr/>
          </p:nvSpPr>
          <p:spPr>
            <a:xfrm>
              <a:off x="2185636" y="2717905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0x03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9E0ED67-2CEE-E09A-6D6A-06AB8415CB03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1751004" y="3041905"/>
              <a:ext cx="43463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93EEA7D-B2BD-501C-7606-BEFD52F4E004}"/>
                </a:ext>
              </a:extLst>
            </p:cNvPr>
            <p:cNvSpPr/>
            <p:nvPr/>
          </p:nvSpPr>
          <p:spPr>
            <a:xfrm>
              <a:off x="4456534" y="2717905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 sz="1800">
                  <a:solidFill>
                    <a:srgbClr val="FF0000"/>
                  </a:solidFill>
                </a:rPr>
                <a:t>0x04</a:t>
              </a:r>
              <a:endParaRPr lang="en-US" altLang="zh-CN">
                <a:solidFill>
                  <a:srgbClr val="FF0000"/>
                </a:solidFill>
              </a:endParaRP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0xXX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D9C54C8-7457-781F-E1BF-6C8949837BAC}"/>
                </a:ext>
              </a:extLst>
            </p:cNvPr>
            <p:cNvCxnSpPr>
              <a:cxnSpLocks/>
              <a:stCxn id="29" idx="3"/>
              <a:endCxn id="31" idx="1"/>
            </p:cNvCxnSpPr>
            <p:nvPr/>
          </p:nvCxnSpPr>
          <p:spPr>
            <a:xfrm>
              <a:off x="3985636" y="3041905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4599CB4-9242-B986-C80F-1C622C3DB98E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6256534" y="3041905"/>
              <a:ext cx="4708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B1E5AC1-698E-C00B-FDC6-B57DE074E1F0}"/>
              </a:ext>
            </a:extLst>
          </p:cNvPr>
          <p:cNvSpPr txBox="1"/>
          <p:nvPr/>
        </p:nvSpPr>
        <p:spPr>
          <a:xfrm>
            <a:off x="696000" y="3722614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读接收有效载荷，读出</a:t>
            </a:r>
            <a:r>
              <a:rPr lang="en-US" altLang="zh-CN" sz="2400">
                <a:latin typeface="+mn-ea"/>
              </a:rPr>
              <a:t>RX_PAYLOAD</a:t>
            </a:r>
            <a:r>
              <a:rPr lang="zh-CN" altLang="en-US" sz="2400">
                <a:latin typeface="+mn-ea"/>
              </a:rPr>
              <a:t>的值，读</a:t>
            </a:r>
            <a:r>
              <a:rPr lang="en-US" altLang="zh-CN" sz="2400">
                <a:latin typeface="+mn-ea"/>
              </a:rPr>
              <a:t>4</a:t>
            </a:r>
            <a:r>
              <a:rPr lang="zh-CN" altLang="en-US" sz="2400">
                <a:latin typeface="+mn-ea"/>
              </a:rPr>
              <a:t>字节</a:t>
            </a:r>
            <a:endParaRPr lang="en-US" altLang="zh-CN" sz="2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002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清空发送</a:t>
            </a:r>
            <a:r>
              <a:rPr lang="en-US" altLang="zh-CN" sz="2400">
                <a:latin typeface="+mn-ea"/>
              </a:rPr>
              <a:t>FIFO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操作示例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370D528-6EFF-2738-4FB0-E140FAE69A68}"/>
              </a:ext>
            </a:extLst>
          </p:cNvPr>
          <p:cNvGrpSpPr/>
          <p:nvPr/>
        </p:nvGrpSpPr>
        <p:grpSpPr>
          <a:xfrm>
            <a:off x="3861367" y="2021662"/>
            <a:ext cx="4469266" cy="648000"/>
            <a:chOff x="2366049" y="1807449"/>
            <a:chExt cx="4469266" cy="648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B1445E5-BDF4-E643-4CB9-56BC4AE37ECF}"/>
                </a:ext>
              </a:extLst>
            </p:cNvPr>
            <p:cNvSpPr/>
            <p:nvPr/>
          </p:nvSpPr>
          <p:spPr>
            <a:xfrm>
              <a:off x="2366049" y="1807449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889D06-4626-DDAA-FB26-D2EF9B51431A}"/>
                </a:ext>
              </a:extLst>
            </p:cNvPr>
            <p:cNvSpPr/>
            <p:nvPr/>
          </p:nvSpPr>
          <p:spPr>
            <a:xfrm>
              <a:off x="3700682" y="1807449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0xE1</a:t>
              </a:r>
            </a:p>
            <a:p>
              <a:r>
                <a:rPr lang="zh-CN" altLang="en-US">
                  <a:solidFill>
                    <a:schemeClr val="tx1"/>
                  </a:solidFill>
                </a:rPr>
                <a:t>收：</a:t>
              </a:r>
              <a:r>
                <a:rPr lang="en-US" altLang="zh-CN">
                  <a:solidFill>
                    <a:schemeClr val="tx1"/>
                  </a:solidFill>
                </a:rPr>
                <a:t>STATUS</a:t>
              </a:r>
              <a:r>
                <a:rPr lang="zh-CN" altLang="en-US">
                  <a:solidFill>
                    <a:schemeClr val="tx1"/>
                  </a:solidFill>
                </a:rPr>
                <a:t>值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3DB3F6-D1A6-FDBA-5DE8-13895CE0D300}"/>
                </a:ext>
              </a:extLst>
            </p:cNvPr>
            <p:cNvSpPr/>
            <p:nvPr/>
          </p:nvSpPr>
          <p:spPr>
            <a:xfrm>
              <a:off x="5935315" y="1807449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F9B0E60-C094-56D3-A9B7-A6C16F4E1538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>
              <a:off x="3266049" y="2131449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853BE6C-178D-91A7-5E07-3F48AA12F78D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5500682" y="2131449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B0E0001-25D1-72B1-B3CE-0D260B5E124B}"/>
              </a:ext>
            </a:extLst>
          </p:cNvPr>
          <p:cNvGrpSpPr/>
          <p:nvPr/>
        </p:nvGrpSpPr>
        <p:grpSpPr>
          <a:xfrm>
            <a:off x="3861367" y="3812239"/>
            <a:ext cx="4469266" cy="648000"/>
            <a:chOff x="2366049" y="3392724"/>
            <a:chExt cx="4469266" cy="6480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CF11593-1099-A566-6520-D433FD46E781}"/>
                </a:ext>
              </a:extLst>
            </p:cNvPr>
            <p:cNvSpPr/>
            <p:nvPr/>
          </p:nvSpPr>
          <p:spPr>
            <a:xfrm>
              <a:off x="2366049" y="3392724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CSN=0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E3903A2-B79A-EDB6-BBBA-7216DB5E15FD}"/>
                </a:ext>
              </a:extLst>
            </p:cNvPr>
            <p:cNvSpPr/>
            <p:nvPr/>
          </p:nvSpPr>
          <p:spPr>
            <a:xfrm>
              <a:off x="3700682" y="3392724"/>
              <a:ext cx="18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>
                  <a:solidFill>
                    <a:srgbClr val="FF0000"/>
                  </a:solidFill>
                </a:rPr>
                <a:t>发：</a:t>
              </a:r>
              <a:r>
                <a:rPr lang="en-US" altLang="zh-CN">
                  <a:solidFill>
                    <a:srgbClr val="FF0000"/>
                  </a:solidFill>
                </a:rPr>
                <a:t>0xFF</a:t>
              </a:r>
            </a:p>
            <a:p>
              <a:r>
                <a:rPr lang="zh-CN" altLang="en-US">
                  <a:solidFill>
                    <a:srgbClr val="00B050"/>
                  </a:solidFill>
                </a:rPr>
                <a:t>收：</a:t>
              </a:r>
              <a:r>
                <a:rPr lang="en-US" altLang="zh-CN">
                  <a:solidFill>
                    <a:srgbClr val="00B050"/>
                  </a:solidFill>
                </a:rPr>
                <a:t>STATUS</a:t>
              </a:r>
              <a:r>
                <a:rPr lang="zh-CN" altLang="en-US">
                  <a:solidFill>
                    <a:srgbClr val="00B050"/>
                  </a:solidFill>
                </a:rPr>
                <a:t>值</a:t>
              </a:r>
              <a:endParaRPr lang="en-US" altLang="zh-CN">
                <a:solidFill>
                  <a:srgbClr val="00B050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4AC3F76-66F0-6035-51E6-40155656FBAB}"/>
                </a:ext>
              </a:extLst>
            </p:cNvPr>
            <p:cNvSpPr/>
            <p:nvPr/>
          </p:nvSpPr>
          <p:spPr>
            <a:xfrm>
              <a:off x="5935315" y="3392724"/>
              <a:ext cx="900000" cy="64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CSN=1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2D2EC11-3535-4F67-C885-B74293B71C9F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>
              <a:off x="3266049" y="3716724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B0EA0B6-F5ED-3A27-9C59-AD1836152581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>
              <a:off x="5500682" y="3716724"/>
              <a:ext cx="4346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231C5D2-6D36-E89B-A906-5AC6509CD8F6}"/>
              </a:ext>
            </a:extLst>
          </p:cNvPr>
          <p:cNvSpPr txBox="1"/>
          <p:nvPr/>
        </p:nvSpPr>
        <p:spPr>
          <a:xfrm>
            <a:off x="696000" y="3010118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快速读状态寄存器</a:t>
            </a:r>
            <a:endParaRPr lang="en-US" altLang="zh-CN" sz="2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3566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正文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标题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551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1057</Words>
  <Application>Microsoft Office PowerPoint</Application>
  <PresentationFormat>宽屏</PresentationFormat>
  <Paragraphs>232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 Admin</dc:creator>
  <cp:lastModifiedBy>H Admin</cp:lastModifiedBy>
  <cp:revision>294</cp:revision>
  <dcterms:created xsi:type="dcterms:W3CDTF">2023-11-10T13:55:36Z</dcterms:created>
  <dcterms:modified xsi:type="dcterms:W3CDTF">2025-07-19T12:42:14Z</dcterms:modified>
</cp:coreProperties>
</file>